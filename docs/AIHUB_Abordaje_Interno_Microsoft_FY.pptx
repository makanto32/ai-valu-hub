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464" y="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Segoe UI"/>
              </a:defRPr>
            </a:pPr>
            <a:r>
              <a:t>AI Opportunity Hub</a:t>
            </a:r>
          </a:p>
          <a:p>
            <a:pPr>
              <a:defRPr sz="1400">
                <a:solidFill>
                  <a:srgbClr val="475569"/>
                </a:solidFill>
                <a:latin typeface="Segoe UI"/>
              </a:defRPr>
            </a:pPr>
            <a:r>
              <a:t>Abordaje para socializacion interna con equipos Microsoft (proximo FY)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109728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10607040" cy="1920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8D4"/>
                </a:solidFill>
                <a:latin typeface="Segoe UI"/>
              </a:defRPr>
            </a:pPr>
            <a:r>
              <a:t>Objetivo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Posicionar la propuesta como acelerador de pipeline calificado, decision rapida y ejecucion gobernada de iniciativas de 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977639"/>
            <a:ext cx="35661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4114800"/>
            <a:ext cx="32004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8D4"/>
                </a:solidFill>
                <a:latin typeface="Segoe UI"/>
              </a:defRPr>
            </a:pPr>
            <a:r>
              <a:t>Resultado esperado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Inclusion en planes de cuenta FY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3977639"/>
            <a:ext cx="35661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40" y="4114800"/>
            <a:ext cx="32004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8D4"/>
                </a:solidFill>
                <a:latin typeface="Segoe UI"/>
              </a:defRPr>
            </a:pPr>
            <a:r>
              <a:t>Horizonte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Ruta 30-60-90 dias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3977639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58200" y="4114800"/>
            <a:ext cx="30175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8D4"/>
                </a:solidFill>
                <a:latin typeface="Segoe UI"/>
              </a:defRPr>
            </a:pPr>
            <a:r>
              <a:t>Metrica norte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Conversion idea -&gt; iniciativa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2823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AI Opportunity Hub | Socializacion interna Microsoft FY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Segoe UI"/>
              </a:defRPr>
            </a:pPr>
            <a:r>
              <a:t>Mensaje central interno</a:t>
            </a:r>
          </a:p>
          <a:p>
            <a:pPr>
              <a:defRPr sz="1400">
                <a:solidFill>
                  <a:srgbClr val="475569"/>
                </a:solidFill>
                <a:latin typeface="Segoe UI"/>
              </a:defRPr>
            </a:pPr>
            <a:r>
              <a:t>Como explicarlo en 30 segundos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54480"/>
            <a:ext cx="10972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691639"/>
            <a:ext cx="942976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766E"/>
                </a:solidFill>
                <a:latin typeface="Segoe UI"/>
              </a:defRPr>
            </a:pPr>
            <a:r>
              <a:rPr dirty="0" err="1"/>
              <a:t>Narrativa</a:t>
            </a:r>
            <a:endParaRPr dirty="0"/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rPr dirty="0"/>
              <a:t>AI Opportunity Hub </a:t>
            </a:r>
            <a:r>
              <a:rPr dirty="0" err="1"/>
              <a:t>transforma</a:t>
            </a:r>
            <a:r>
              <a:rPr dirty="0"/>
              <a:t> </a:t>
            </a:r>
            <a:r>
              <a:rPr dirty="0" err="1"/>
              <a:t>conversaciones</a:t>
            </a:r>
            <a:r>
              <a:rPr dirty="0"/>
              <a:t> de IA </a:t>
            </a:r>
            <a:r>
              <a:rPr dirty="0" err="1"/>
              <a:t>en</a:t>
            </a:r>
            <a:r>
              <a:rPr dirty="0"/>
              <a:t> un </a:t>
            </a:r>
            <a:r>
              <a:rPr dirty="0" err="1"/>
              <a:t>sistema</a:t>
            </a:r>
            <a:r>
              <a:rPr dirty="0"/>
              <a:t> de decision </a:t>
            </a:r>
            <a:r>
              <a:rPr dirty="0" err="1"/>
              <a:t>medible</a:t>
            </a:r>
            <a:r>
              <a:rPr dirty="0"/>
              <a:t>: </a:t>
            </a:r>
            <a:r>
              <a:rPr dirty="0" err="1"/>
              <a:t>menos</a:t>
            </a:r>
            <a:r>
              <a:rPr dirty="0"/>
              <a:t> </a:t>
            </a:r>
            <a:r>
              <a:rPr dirty="0" err="1"/>
              <a:t>tiempo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discovery, </a:t>
            </a:r>
            <a:r>
              <a:rPr dirty="0" err="1"/>
              <a:t>mejor</a:t>
            </a:r>
            <a:r>
              <a:rPr dirty="0"/>
              <a:t> </a:t>
            </a:r>
            <a:r>
              <a:rPr dirty="0" err="1"/>
              <a:t>priorizacion</a:t>
            </a:r>
            <a:r>
              <a:rPr dirty="0"/>
              <a:t> </a:t>
            </a:r>
            <a:endParaRPr lang="es-CR" dirty="0"/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rPr dirty="0"/>
              <a:t>y mas </a:t>
            </a:r>
            <a:r>
              <a:rPr dirty="0" err="1"/>
              <a:t>oportunidades</a:t>
            </a:r>
            <a:r>
              <a:rPr dirty="0"/>
              <a:t> </a:t>
            </a:r>
            <a:r>
              <a:rPr dirty="0" err="1"/>
              <a:t>convertidas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ejecucion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stack Microsoft.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AI Opportunity Hub | Socializacion interna Microsoft FY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Segoe UI"/>
              </a:defRPr>
            </a:pPr>
            <a:r>
              <a:t>Alineacion con estrategia FY</a:t>
            </a:r>
          </a:p>
          <a:p>
            <a:pPr>
              <a:defRPr sz="1400">
                <a:solidFill>
                  <a:srgbClr val="475569"/>
                </a:solidFill>
                <a:latin typeface="Segoe UI"/>
              </a:defRPr>
            </a:pPr>
            <a:r>
              <a:t>Matriz de encaje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54480"/>
            <a:ext cx="53949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691639"/>
            <a:ext cx="5029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8D4"/>
                </a:solidFill>
                <a:latin typeface="Segoe UI"/>
              </a:defRPr>
            </a:pPr>
            <a:r>
              <a:t>AI Transformation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Genera backlog priorizado con criterios de valor y factibilidad.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554480"/>
            <a:ext cx="53949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1691639"/>
            <a:ext cx="5029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8D4"/>
                </a:solidFill>
                <a:latin typeface="Segoe UI"/>
              </a:defRPr>
            </a:pPr>
            <a:r>
              <a:t>Data + AI en Azure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Conecta oportunidades a arquitectura y servicios objetivo.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749039"/>
            <a:ext cx="53949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3886200"/>
            <a:ext cx="5029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8D4"/>
                </a:solidFill>
                <a:latin typeface="Segoe UI"/>
              </a:defRPr>
            </a:pPr>
            <a:r>
              <a:t>Security + Governance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Incorpora trazabilidad y rationale de decisiones.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3749039"/>
            <a:ext cx="53949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3886200"/>
            <a:ext cx="5029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8D4"/>
                </a:solidFill>
                <a:latin typeface="Segoe UI"/>
              </a:defRPr>
            </a:pPr>
            <a:r>
              <a:t>Ejecucion Comercial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Estandariza discovery y acelera paso a propuesta.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2823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AI Opportunity Hub | Socializacion interna Microsoft FY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Segoe UI"/>
              </a:defRPr>
            </a:pPr>
            <a:r>
              <a:t>Diagrama de valor interno</a:t>
            </a:r>
          </a:p>
          <a:p>
            <a:pPr>
              <a:defRPr sz="1400">
                <a:solidFill>
                  <a:srgbClr val="475569"/>
                </a:solidFill>
                <a:latin typeface="Segoe UI"/>
              </a:defRPr>
            </a:pPr>
            <a:r>
              <a:t>Pipeline -&gt; Velocity -&gt; Attach -&gt; Outcome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194560"/>
            <a:ext cx="25603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2331720"/>
            <a:ext cx="219456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8D4"/>
                </a:solidFill>
                <a:latin typeface="Segoe UI"/>
              </a:defRPr>
            </a:pPr>
            <a:r>
              <a:t>Pipeline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Mas oportunidades calificadas por cuenta</a:t>
            </a:r>
          </a:p>
        </p:txBody>
      </p:sp>
      <p:sp>
        <p:nvSpPr>
          <p:cNvPr id="6" name="Chevron 5"/>
          <p:cNvSpPr/>
          <p:nvPr/>
        </p:nvSpPr>
        <p:spPr>
          <a:xfrm>
            <a:off x="3337560" y="2880360"/>
            <a:ext cx="411480" cy="502920"/>
          </a:xfrm>
          <a:prstGeom prst="chevron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794760" y="2194560"/>
            <a:ext cx="25603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977640" y="2331720"/>
            <a:ext cx="219456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8D4"/>
                </a:solidFill>
                <a:latin typeface="Segoe UI"/>
              </a:defRPr>
            </a:pPr>
            <a:r>
              <a:t>Velocity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Decision mas rapida y menos retrabajo</a:t>
            </a:r>
          </a:p>
        </p:txBody>
      </p:sp>
      <p:sp>
        <p:nvSpPr>
          <p:cNvPr id="9" name="Chevron 8"/>
          <p:cNvSpPr/>
          <p:nvPr/>
        </p:nvSpPr>
        <p:spPr>
          <a:xfrm>
            <a:off x="6446520" y="2880360"/>
            <a:ext cx="411480" cy="502920"/>
          </a:xfrm>
          <a:prstGeom prst="chevron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903720" y="2194560"/>
            <a:ext cx="25603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86600" y="2331720"/>
            <a:ext cx="219456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8D4"/>
                </a:solidFill>
                <a:latin typeface="Segoe UI"/>
              </a:defRPr>
            </a:pPr>
            <a:r>
              <a:t>Attach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Mayor vinculo a servicios de plataforma</a:t>
            </a:r>
          </a:p>
        </p:txBody>
      </p:sp>
      <p:sp>
        <p:nvSpPr>
          <p:cNvPr id="12" name="Chevron 11"/>
          <p:cNvSpPr/>
          <p:nvPr/>
        </p:nvSpPr>
        <p:spPr>
          <a:xfrm>
            <a:off x="9555480" y="2880360"/>
            <a:ext cx="411480" cy="502920"/>
          </a:xfrm>
          <a:prstGeom prst="chevron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012680" y="2194560"/>
            <a:ext cx="16459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195559" y="2331720"/>
            <a:ext cx="128016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8D4"/>
                </a:solidFill>
                <a:latin typeface="Segoe UI"/>
              </a:defRPr>
            </a:pPr>
            <a:r>
              <a:t>Outcome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Win-rate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572000"/>
            <a:ext cx="109728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4709160"/>
            <a:ext cx="106070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766E"/>
                </a:solidFill>
                <a:latin typeface="Segoe UI"/>
              </a:defRPr>
            </a:pPr>
            <a:r>
              <a:t>Mensaje clave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No es una herramienta aislada: es un motor de decision para calidad de pipeline comercial y ejecucion tecnica.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2823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AI Opportunity Hub | Socializacion interna Microsoft FY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Segoe UI"/>
              </a:defRPr>
            </a:pPr>
            <a:r>
              <a:t>Stakeholders internos y mensaje por rol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54480"/>
            <a:ext cx="35661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691639"/>
            <a:ext cx="3200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8D4"/>
                </a:solidFill>
                <a:latin typeface="Segoe UI"/>
              </a:defRPr>
            </a:pPr>
            <a:r>
              <a:t>Account Team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Mejor pipeline y mas conversion a oportunidades reales.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554480"/>
            <a:ext cx="35661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17720" y="1691639"/>
            <a:ext cx="3200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8D4"/>
                </a:solidFill>
                <a:latin typeface="Segoe UI"/>
              </a:defRPr>
            </a:pPr>
            <a:r>
              <a:t>Specialists Data + AI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Mayor attach de servicios y casos mejor definidos.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1554480"/>
            <a:ext cx="3474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66759" y="1691639"/>
            <a:ext cx="31089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8D4"/>
                </a:solidFill>
                <a:latin typeface="Segoe UI"/>
              </a:defRPr>
            </a:pPr>
            <a:r>
              <a:t>Cloud Solution Architect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Factibilidad temprana y menor retrabajo tecnico.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749039"/>
            <a:ext cx="53949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3886200"/>
            <a:ext cx="5029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8D4"/>
                </a:solidFill>
                <a:latin typeface="Segoe UI"/>
              </a:defRPr>
            </a:pPr>
            <a:r>
              <a:t>Customer Success / Delivery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Entradas mas maduras para implementacion y adopcion.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3749039"/>
            <a:ext cx="53949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3886200"/>
            <a:ext cx="5029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8D4"/>
                </a:solidFill>
                <a:latin typeface="Segoe UI"/>
              </a:defRPr>
            </a:pPr>
            <a:r>
              <a:t>Industry / Strategy Lead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Oferta repetible por industria y escala en FY.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2823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AI Opportunity Hub | Socializacion interna Microsoft FY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Segoe UI"/>
              </a:defRPr>
            </a:pPr>
            <a:r>
              <a:t>KPIs para demostrar valor FY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54480"/>
            <a:ext cx="35661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691639"/>
            <a:ext cx="3200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45309"/>
                </a:solidFill>
                <a:latin typeface="Segoe UI"/>
              </a:defRPr>
            </a:pPr>
            <a:r>
              <a:t>KPI 1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Pipeline calificado: ideas evaluadas vs priorizadas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554480"/>
            <a:ext cx="35661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17720" y="1691639"/>
            <a:ext cx="3200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45309"/>
                </a:solidFill>
                <a:latin typeface="Segoe UI"/>
              </a:defRPr>
            </a:pPr>
            <a:r>
              <a:t>KPI 2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Time-to-decision por idea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155448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66759" y="1691639"/>
            <a:ext cx="31089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45309"/>
                </a:solidFill>
                <a:latin typeface="Segoe UI"/>
              </a:defRPr>
            </a:pPr>
            <a:r>
              <a:t>KPI 3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Attach de plataforma por iniciativa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657600"/>
            <a:ext cx="35661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3794760"/>
            <a:ext cx="3200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45309"/>
                </a:solidFill>
                <a:latin typeface="Segoe UI"/>
              </a:defRPr>
            </a:pPr>
            <a:r>
              <a:t>KPI 4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Conversion a propuesta/piloto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3657600"/>
            <a:ext cx="35661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3794760"/>
            <a:ext cx="3200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45309"/>
                </a:solidFill>
                <a:latin typeface="Segoe UI"/>
              </a:defRPr>
            </a:pPr>
            <a:r>
              <a:t>KPI 5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Velocidad aprobacion -&gt; plan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365760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66759" y="3794760"/>
            <a:ext cx="31089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45309"/>
                </a:solidFill>
                <a:latin typeface="Segoe UI"/>
              </a:defRPr>
            </a:pPr>
            <a:r>
              <a:t>KPI 6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Calidad de decision con trazabilidad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2823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AI Opportunity Hub | Socializacion interna Microsoft FY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Segoe UI"/>
              </a:defRPr>
            </a:pPr>
            <a:r>
              <a:t>Ruta de socializacion 30-60-90</a:t>
            </a:r>
          </a:p>
          <a:p>
            <a:pPr>
              <a:defRPr sz="1400">
                <a:solidFill>
                  <a:srgbClr val="475569"/>
                </a:solidFill>
                <a:latin typeface="Segoe UI"/>
              </a:defRPr>
            </a:pPr>
            <a:r>
              <a:t>Plan operativo interno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356616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3200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8D4"/>
                </a:solidFill>
                <a:latin typeface="Segoe UI"/>
              </a:defRPr>
            </a:pPr>
            <a:r>
              <a:t>Dia 0-30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Alineacion y sponsor.</a:t>
            </a:r>
            <a:br/>
            <a:r>
              <a:t>Validar narrativa.</a:t>
            </a:r>
            <a:br/>
            <a:r>
              <a:t>Seleccionar 3-5 cuentas candidatas.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645920"/>
            <a:ext cx="356616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17720" y="1783080"/>
            <a:ext cx="3200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766E"/>
                </a:solidFill>
                <a:latin typeface="Segoe UI"/>
              </a:defRPr>
            </a:pPr>
            <a:r>
              <a:t>Dia 31-60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Prueba de valor.</a:t>
            </a:r>
            <a:br/>
            <a:r>
              <a:t>Opportunity shaping con backlog real.</a:t>
            </a:r>
            <a:br/>
            <a:r>
              <a:t>Reporte quincenal de impacto.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1645920"/>
            <a:ext cx="34747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66759" y="1783080"/>
            <a:ext cx="31089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45309"/>
                </a:solidFill>
                <a:latin typeface="Segoe UI"/>
              </a:defRPr>
            </a:pPr>
            <a:r>
              <a:t>Dia 61-90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Escalamiento FY.</a:t>
            </a:r>
            <a:br/>
            <a:r>
              <a:t>Incluir resultados en QBR.</a:t>
            </a:r>
            <a:br/>
            <a:r>
              <a:t>Propuesta formal por industria/cuenta.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2823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AI Opportunity Hub | Socializacion interna Microsoft FY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Segoe UI"/>
              </a:defRPr>
            </a:pPr>
            <a:r>
              <a:t>Estructura de reunion interna (45 min)</a:t>
            </a:r>
          </a:p>
          <a:p>
            <a:pPr>
              <a:defRPr sz="1400">
                <a:solidFill>
                  <a:srgbClr val="475569"/>
                </a:solidFill>
                <a:latin typeface="Segoe UI"/>
              </a:defRPr>
            </a:pPr>
            <a:r>
              <a:t>Formato sugerido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54480"/>
            <a:ext cx="10972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691639"/>
            <a:ext cx="1060704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766E"/>
                </a:solidFill>
                <a:latin typeface="Segoe UI"/>
              </a:defRPr>
            </a:pPr>
            <a:r>
              <a:t>Agenda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5 min: contexto FY y dolor actual</a:t>
            </a:r>
            <a:br/>
            <a:r>
              <a:t>10 min: diagrama de valor</a:t>
            </a:r>
            <a:br/>
            <a:r>
              <a:t>10 min: casos por cuenta</a:t>
            </a:r>
            <a:br/>
            <a:r>
              <a:t>10 min: KPIs y baseline</a:t>
            </a:r>
            <a:br/>
            <a:r>
              <a:t>10 min: acuerdos de ownership y siguientes pasos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AI Opportunity Hub | Socializacion interna Microsoft FY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Segoe UI"/>
              </a:defRPr>
            </a:pPr>
            <a:r>
              <a:t>Objeciones internas y respuesta</a:t>
            </a:r>
          </a:p>
          <a:p>
            <a:pPr>
              <a:defRPr sz="1400">
                <a:solidFill>
                  <a:srgbClr val="475569"/>
                </a:solidFill>
                <a:latin typeface="Segoe UI"/>
              </a:defRPr>
            </a:pPr>
            <a:r>
              <a:t>Preparacion para adopcion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54480"/>
            <a:ext cx="53949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691639"/>
            <a:ext cx="5029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8D4"/>
                </a:solidFill>
                <a:latin typeface="Segoe UI"/>
              </a:defRPr>
            </a:pPr>
            <a:r>
              <a:t>Objecion 1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Ya tenemos discovery.</a:t>
            </a:r>
            <a:br/>
            <a:r>
              <a:t>Respuesta: no reemplaza discovery, lo estandariza y lo acelera.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554480"/>
            <a:ext cx="53949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1691639"/>
            <a:ext cx="5029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8D4"/>
                </a:solidFill>
                <a:latin typeface="Segoe UI"/>
              </a:defRPr>
            </a:pPr>
            <a:r>
              <a:t>Objecion 2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No hay tiempo para otro proceso.</a:t>
            </a:r>
            <a:br/>
            <a:r>
              <a:t>Respuesta: reduce ciclos y evita invertir en ideas no viables.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749039"/>
            <a:ext cx="53949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3886200"/>
            <a:ext cx="5029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8D4"/>
                </a:solidFill>
                <a:latin typeface="Segoe UI"/>
              </a:defRPr>
            </a:pPr>
            <a:r>
              <a:t>Objecion 3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Valor dificil de medir.</a:t>
            </a:r>
            <a:br/>
            <a:r>
              <a:t>Respuesta: baseline y KPI quincenal desde semana 1.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3749039"/>
            <a:ext cx="53949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3886200"/>
            <a:ext cx="5029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8D4"/>
                </a:solidFill>
                <a:latin typeface="Segoe UI"/>
              </a:defRPr>
            </a:pPr>
            <a:r>
              <a:t>Objecion 4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Sin sponsor no escala.</a:t>
            </a:r>
            <a:br/>
            <a:r>
              <a:t>Respuesta: sponsor es hito de fase 0.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2823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AI Opportunity Hub | Socializacion interna Microsoft FY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Segoe UI"/>
              </a:defRPr>
            </a:pPr>
            <a:r>
              <a:t>Decision solicitada al equipo interno</a:t>
            </a:r>
          </a:p>
          <a:p>
            <a:pPr>
              <a:defRPr sz="1400">
                <a:solidFill>
                  <a:srgbClr val="475569"/>
                </a:solidFill>
                <a:latin typeface="Segoe UI"/>
              </a:defRPr>
            </a:pPr>
            <a:r>
              <a:t>Call to 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10972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1060704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8D4"/>
                </a:solidFill>
                <a:latin typeface="Segoe UI"/>
              </a:defRPr>
            </a:pPr>
            <a:r>
              <a:t>Pedido concreto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1) Aprobar piloto en 1-2 cuentas</a:t>
            </a:r>
            <a:br/>
            <a:r>
              <a:t>2) Nombrar sponsor interno</a:t>
            </a:r>
            <a:br/>
            <a:r>
              <a:t>3) Asignar owner tecnico-comercial</a:t>
            </a:r>
            <a:br/>
            <a:r>
              <a:t>4) Agendar workshop con cliente en 2 semanas</a:t>
            </a:r>
            <a:br/>
            <a:r>
              <a:t>5) Acordar 3 KPI de exito para 90 dias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AI Opportunity Hub | Socializacion interna Microsoft FY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635</Words>
  <Application>Microsoft Office PowerPoint</Application>
  <PresentationFormat>Widescreen</PresentationFormat>
  <Paragraphs>97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Marco Salas Robles</cp:lastModifiedBy>
  <cp:revision>2</cp:revision>
  <dcterms:created xsi:type="dcterms:W3CDTF">2013-01-27T09:14:16Z</dcterms:created>
  <dcterms:modified xsi:type="dcterms:W3CDTF">2026-06-02T17:17:28Z</dcterms:modified>
  <cp:category/>
</cp:coreProperties>
</file>