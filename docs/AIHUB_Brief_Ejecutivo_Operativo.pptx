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AI Opportunity Hub</a:t>
            </a:r>
          </a:p>
          <a:p>
            <a:pPr>
              <a:defRPr sz="1400">
                <a:solidFill>
                  <a:srgbClr val="5F6B7A"/>
                </a:solidFill>
                <a:latin typeface="Segoe UI"/>
              </a:defRPr>
            </a:pPr>
            <a:r>
              <a:t>Brief ejecutivo y operativo para posicionamiento comercial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539496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59" y="1783080"/>
            <a:ext cx="50292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Propuesta central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Transformar ideas de IA en decisiones ejecutables, con trazabilidad y menor riesgo de inversion.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49377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Estado actual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MVP1 implementado, MVP2 en progreso: validacion tecnica, architecture package y composicion de respuesta.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2062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4343400"/>
            <a:ext cx="32004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90 dias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ruta propuesta para socializacion y adopcion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42062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4343400"/>
            <a:ext cx="32004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2 filtros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negocio + tecnica para priorizacion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206240"/>
            <a:ext cx="33832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4343400"/>
            <a:ext cx="301752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1 lenguaje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ejecutivo, operativo y arquitectura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Agenda de conversacion con cliente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97280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10607040" cy="4343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Estructura sugerida (45-60 min)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1) Objetivo estrategico y operativo</a:t>
            </a:r>
            <a:br/>
            <a:r>
              <a:t>2) Problemas actuales de priorizacion IA</a:t>
            </a:r>
            <a:br/>
            <a:r>
              <a:t>3) Diagrama de valor de AI Opportunity Hub</a:t>
            </a:r>
            <a:br/>
            <a:r>
              <a:t>4) Potencial de escalamiento y gobierno</a:t>
            </a:r>
            <a:br/>
            <a:r>
              <a:t>5) Ruta de socializacion en 90 dias</a:t>
            </a:r>
            <a:br/>
            <a:r>
              <a:t>6) Acuerdos de siguiente paso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Objetivo de la herramienta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5778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2120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Objetivo estrategico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Convertir el pipeline de ideas de IA en una capacidad repetible de negocio: detectar valor temprano, descartar rapido lo no viable y enfocar inversion en casos con impacto.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371600"/>
            <a:ext cx="53949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50292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Objetivo operativo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Estandarizar intake, evaluacion por contexto de tenant, validacion tecnica inicial y salida accionable para patrocinadores, equipos de IA y arquitectura.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Problema que resuelve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  <a:latin typeface="Segoe UI"/>
              </a:defRPr>
            </a:pPr>
            <a:r>
              <a:t>Backlog sin priorizacion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Muchas ideas y poca claridad sobre retorno y factibilidad.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7160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  <a:latin typeface="Segoe UI"/>
              </a:defRPr>
            </a:pPr>
            <a:r>
              <a:t>Discovery costoso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Demasiado tiempo en analisis inicial sin artefactos comparables.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54864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51206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  <a:latin typeface="Segoe UI"/>
              </a:defRPr>
            </a:pPr>
            <a:r>
              <a:t>Decision fragmentada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Negocio, tecnologia y riesgo evaluan en tiempos y formatos distintos.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566160"/>
            <a:ext cx="5394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0" y="3703320"/>
            <a:ext cx="50292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  <a:latin typeface="Segoe UI"/>
              </a:defRPr>
            </a:pPr>
            <a:r>
              <a:t>Baja trazabilidad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Poca capacidad para explicar por que una idea avanza o se descarta.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Diagrama de valor #1 | Cadena operacional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8" y="2011680"/>
            <a:ext cx="234086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Segoe UI"/>
              </a:defRPr>
            </a:pPr>
            <a:r>
              <a:t>ENTRADA</a:t>
            </a:r>
          </a:p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Idea intake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Captura uniforme de problema, objetivo y criterio de exito.</a:t>
            </a:r>
          </a:p>
        </p:txBody>
      </p:sp>
      <p:sp>
        <p:nvSpPr>
          <p:cNvPr id="6" name="Chevron 5"/>
          <p:cNvSpPr/>
          <p:nvPr/>
        </p:nvSpPr>
        <p:spPr>
          <a:xfrm>
            <a:off x="3291840" y="2743200"/>
            <a:ext cx="457200" cy="54864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840480" y="192024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50208" y="2011680"/>
            <a:ext cx="234086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Segoe UI"/>
              </a:defRPr>
            </a:pPr>
            <a:r>
              <a:t>FILTRO 1</a:t>
            </a:r>
          </a:p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Validacion negocio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Prioriza por impacto esperado y alineacion estrategica.</a:t>
            </a:r>
          </a:p>
        </p:txBody>
      </p:sp>
      <p:sp>
        <p:nvSpPr>
          <p:cNvPr id="9" name="Chevron 8"/>
          <p:cNvSpPr/>
          <p:nvPr/>
        </p:nvSpPr>
        <p:spPr>
          <a:xfrm>
            <a:off x="6492240" y="2743200"/>
            <a:ext cx="457200" cy="54864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040880" y="1920240"/>
            <a:ext cx="25603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50608" y="2011680"/>
            <a:ext cx="2340863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Segoe UI"/>
              </a:defRPr>
            </a:pPr>
            <a:r>
              <a:t>FILTRO 2</a:t>
            </a:r>
          </a:p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Validacion tecnica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Evalua datos, integraciones, complejidad y riesgo.</a:t>
            </a:r>
          </a:p>
        </p:txBody>
      </p:sp>
      <p:sp>
        <p:nvSpPr>
          <p:cNvPr id="12" name="Chevron 11"/>
          <p:cNvSpPr/>
          <p:nvPr/>
        </p:nvSpPr>
        <p:spPr>
          <a:xfrm>
            <a:off x="9692640" y="2743200"/>
            <a:ext cx="457200" cy="548640"/>
          </a:xfrm>
          <a:prstGeom prst="chevron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241280" y="1920240"/>
            <a:ext cx="1371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51007" y="2011680"/>
            <a:ext cx="11521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F766E"/>
                </a:solidFill>
                <a:latin typeface="Segoe UI"/>
              </a:defRPr>
            </a:pPr>
            <a:r>
              <a:t>SALIDA</a:t>
            </a:r>
          </a:p>
          <a:p>
            <a:pPr>
              <a:defRPr sz="1300" b="1">
                <a:solidFill>
                  <a:srgbClr val="1F2937"/>
                </a:solidFill>
                <a:latin typeface="Segoe UI"/>
              </a:defRPr>
            </a:pPr>
            <a:r>
              <a:t>Paquete</a:t>
            </a:r>
          </a:p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Architecture package y siguientes pasos.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36576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32918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-35% a -55%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reduccion estimada en tiempo de evaluacion inicial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26280" y="4663440"/>
            <a:ext cx="35661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09160" y="4800600"/>
            <a:ext cx="320040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+20% a +40%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mejor precision de priorizacion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4663440"/>
            <a:ext cx="34747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0" y="4800600"/>
            <a:ext cx="310896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Trazabilidad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motivo de avance / rechazo por idea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Resultados esperados y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T1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Tiempo medio de evaluacion por idea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60" y="1691639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T2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Tasa idea -&gt; iniciativa priorizada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265176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91639"/>
            <a:ext cx="22860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T3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Tiempo de decision de comite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554480"/>
            <a:ext cx="21031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39"/>
            <a:ext cx="173736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T4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Calidad del backlog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9728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611879"/>
            <a:ext cx="106070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6534"/>
                </a:solidFill>
                <a:latin typeface="Segoe UI"/>
              </a:defRPr>
            </a:pPr>
            <a:r>
              <a:t>Lectura ejecutiva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La plataforma no solo mejora eficiencia. Tambien aumenta la calidad de inversion en IA al elevar la consistencia de decision entre negocio, arquitectura y riesgo.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Diagrama de valor #2 | Escala de potencial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502920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5166360"/>
            <a:ext cx="10332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Nivel 1 | Eficiencia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Automatiza filtros iniciales y libera capacidad analitica.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4114800"/>
            <a:ext cx="97840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4251960"/>
            <a:ext cx="94183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Nivel 2 | Calidad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Comparacion objetiva de ideas bajo criterios comunes.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200400"/>
            <a:ext cx="88696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828800" y="3337560"/>
            <a:ext cx="85039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Nivel 3 | Ejecucion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Salida con arquitectura inicial y siguientes pasos accionables.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03120" y="2286000"/>
            <a:ext cx="795527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86000" y="2423160"/>
            <a:ext cx="75895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Nivel 4 | Gobierno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Disciplina de portafolio IA y mejora continua por metrica.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Modelo operativo propuesto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Rol sponsor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Define objetivos de valor y criterios de aprobacion.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463040"/>
            <a:ext cx="36576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09160" y="1600200"/>
            <a:ext cx="329184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Rol negocio/ops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Ingresa ideas, aporta contexto y valida prioridad.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463040"/>
            <a:ext cx="33832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19" y="160020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Rol arquitectura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Valida factibilidad y propone blueprint inicial.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972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749040"/>
            <a:ext cx="106070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F766E"/>
                </a:solidFill>
                <a:latin typeface="Segoe UI"/>
              </a:defRPr>
            </a:pPr>
            <a:r>
              <a:t>Cadencia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Ritmo quincenal para screening de ideas y comite mensual de decisiones. RACI claro, criterios estandarizados y trazabilidad de decisiones.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Ruta de socializacion con clientes | 90 dias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651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39"/>
            <a:ext cx="2286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Fase 0</a:t>
            </a:r>
            <a:br/>
            <a:r>
              <a:t>Semana 1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Alineacion ejecutiva</a:t>
            </a:r>
            <a:br/>
            <a:r>
              <a:t>Workshop de objetivo, KPIs y backlog candidato.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1554480"/>
            <a:ext cx="2651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94760" y="1691639"/>
            <a:ext cx="2286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Fase 1</a:t>
            </a:r>
            <a:br/>
            <a:r>
              <a:t>Sem 2-4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Piloto controlado</a:t>
            </a:r>
            <a:br/>
            <a:r>
              <a:t>15-30 ideas reales con trazabilidad.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554480"/>
            <a:ext cx="265176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91639"/>
            <a:ext cx="22860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Fase 2</a:t>
            </a:r>
            <a:br/>
            <a:r>
              <a:t>Mes 2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Operacionalizacion</a:t>
            </a:r>
            <a:br/>
            <a:r>
              <a:t>Cadencia, RACI y comite de portafolio.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72600" y="1554480"/>
            <a:ext cx="23774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691639"/>
            <a:ext cx="201168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4A6E"/>
                </a:solidFill>
                <a:latin typeface="Segoe UI"/>
              </a:defRPr>
            </a:pPr>
            <a:r>
              <a:t>Fase 3</a:t>
            </a:r>
            <a:br/>
            <a:r>
              <a:t>Mes 3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Escalamiento</a:t>
            </a:r>
            <a:br/>
            <a:r>
              <a:t>Roadmap anual y business case.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Playbook comercial recomendado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486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512064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  <a:latin typeface="Segoe UI"/>
              </a:defRPr>
            </a:pPr>
            <a:r>
              <a:t>Narrativa para C-level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"No es otro backlog de ideas. Es un sistema para decidir mejor y mas rapido donde invertir en IA, con evidencia y trazabilidad."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80" y="1463040"/>
            <a:ext cx="534924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600200"/>
            <a:ext cx="4983479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45309"/>
                </a:solidFill>
                <a:latin typeface="Segoe UI"/>
              </a:defRPr>
            </a:pPr>
            <a:r>
              <a:t>Narrativa para lideres operativos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"Reciben un flujo claro de trabajo, motivos de rechazo explicitos y paquetes de arquitectura listos para mover iniciativas a ejecucion."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F2937"/>
                </a:solidFill>
                <a:latin typeface="Segoe UI"/>
              </a:rPr>
              <a:t>Siguiente paso sugerido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972800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1060704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66534"/>
                </a:solidFill>
                <a:latin typeface="Segoe UI"/>
              </a:defRPr>
            </a:pPr>
            <a:r>
              <a:t>Propuesta de accion inmediata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1) Seleccionar cliente piloto y sponsor.</a:t>
            </a:r>
            <a:br/>
            <a:r>
              <a:t>2) Ejecutar workshop de alineacion (semana 1).</a:t>
            </a:r>
            <a:br/>
            <a:r>
              <a:t>3) Cargar backlog inicial y definir KPIs base.</a:t>
            </a:r>
            <a:br/>
            <a:r>
              <a:t>4) Revisar resultados al cierre de la semana 4 con decision de escalamiento.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669280"/>
            <a:ext cx="1097280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6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5806440"/>
            <a:ext cx="106070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937"/>
                </a:solidFill>
                <a:latin typeface="Segoe UI"/>
              </a:defRPr>
            </a:pPr>
            <a:r>
              <a:t>Entrega</a:t>
            </a:r>
          </a:p>
          <a:p>
            <a:pPr>
              <a:defRPr sz="1200">
                <a:solidFill>
                  <a:srgbClr val="5F6B7A"/>
                </a:solidFill>
                <a:latin typeface="Segoe UI"/>
              </a:defRPr>
            </a:pPr>
            <a:r>
              <a:t>Deck listo para reuniones ejecutivas y operativas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F6B7A"/>
                </a:solidFill>
                <a:latin typeface="Segoe UI"/>
              </a:defRPr>
            </a:pPr>
            <a:r>
              <a:t>AI Opportunity Hub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1" y="0"/>
            <a:ext cx="6064235" cy="6858000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27D85C-3086-1F6E-570A-DA252A9B77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841664"/>
            <a:ext cx="4874661" cy="51568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Gracias !!</a:t>
            </a:r>
          </a:p>
        </p:txBody>
      </p:sp>
    </p:spTree>
    <p:extLst>
      <p:ext uri="{BB962C8B-B14F-4D97-AF65-F5344CB8AC3E}">
        <p14:creationId xmlns:p14="http://schemas.microsoft.com/office/powerpoint/2010/main" val="3283151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690</TotalTime>
  <Words>756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Gracias !!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Salas Robles</cp:lastModifiedBy>
  <cp:revision>2</cp:revision>
  <dcterms:created xsi:type="dcterms:W3CDTF">2013-01-27T09:14:16Z</dcterms:created>
  <dcterms:modified xsi:type="dcterms:W3CDTF">2026-06-04T01:40:54Z</dcterms:modified>
  <cp:category/>
</cp:coreProperties>
</file>